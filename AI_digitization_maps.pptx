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0096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Титул. Доклад про автоматическую оцифровку архивных структурных карт нефтегазовых отчётов.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Проблема: ручная оцифровка медленная, на листе смешаны изогипсы, профили и скважины, скан ветхий.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Метод: CV находит, VLM читает, правила классифицируют по формату и делают QC, затем грид и геопривязка.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Hero-кейс: Якутия лист 23. 113 изолиний, реальная привязка в СК-42 125 м медиана, экспорт в Petrel.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Вызов: плотные сейсмопрофили Волго-Урала цифруются как ложные контуры, портят углы карты.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Прорыв: схема профилей МОГТ из отчёта регистрируется на карту по общим номерам (7px), маска снимает профили вдоль линий, изогипсы поперёк уцелевают.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Результат: 498 профилей снято, 268 чистых изогипс, маска вшита в пайплайн с честным гейтом.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Итоги: два региона на одном пайплайне. Дальше — авто-схема, георефренс ВУ, грид-контуринг.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0"/>
            <a:ext cx="12161520" cy="146304"/>
          </a:xfrm>
          <a:prstGeom prst="rect">
            <a:avLst/>
          </a:prstGeom>
          <a:solidFill>
            <a:srgbClr val="0A4D6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126480"/>
            <a:ext cx="12161520" cy="1463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46520"/>
            <a:ext cx="12161520" cy="146304"/>
          </a:xfrm>
          <a:prstGeom prst="rect">
            <a:avLst/>
          </a:prstGeom>
          <a:solidFill>
            <a:srgbClr val="2A8FB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КОНФЕРЕНЦИЯ · КАРБОНАТНЫЕ КОЛЛЕКТОРЫ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AI-оцифровка архивных</a:t>
            </a:r>
            <a:endParaRPr lang="en-US" sz="48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структурных карт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E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бумажного советского отчёта к цифровой поверхности в СК-42 и Petrel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Руслан Киямов</a:t>
            </a:r>
            <a:r>
              <a:rPr lang="en-US" sz="1400" dirty="0">
                <a:solidFill>
                  <a:srgbClr val="8F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АО «ИК «ФИНАМ»   ·   РГУ нефти и газа им. И.М. Губкина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Тысячи структурных карт заперты</a:t>
            </a:r>
            <a:endParaRPr lang="en-US" sz="3200" dirty="0"/>
          </a:p>
          <a:p>
            <a:pPr marL="0" indent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бумажных отчётах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457200" cy="457200"/>
          </a:xfrm>
          <a:prstGeom prst="ellipse">
            <a:avLst/>
          </a:prstGeom>
          <a:solidFill>
            <a:srgbClr val="0A4D6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224028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Ручная оцифровка — недели на карту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263347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Геолог перерисовывает каждую изогипсу вручную с планшета.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457200" cy="457200"/>
          </a:xfrm>
          <a:prstGeom prst="ellipse">
            <a:avLst/>
          </a:prstGeom>
          <a:solidFill>
            <a:srgbClr val="0A4D6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34747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слоя линий на одном листе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386791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Изогипсы, сейсмопрофили МОГТ и скважины наложены и пересекаются.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4754880"/>
            <a:ext cx="457200" cy="457200"/>
          </a:xfrm>
          <a:prstGeom prst="ellipse">
            <a:avLst/>
          </a:prstGeom>
          <a:solidFill>
            <a:srgbClr val="0A4D6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47091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Ветхий скан, ГОСТ-шрифт, разный тон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510235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и классические трассировщики ломаются на архивном качестве.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38744" y="2157984"/>
            <a:ext cx="3364992" cy="2231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  <a:effectLst>
            <a:outerShdw blurRad="114300" dist="38100" dir="5400000" algn="bl" rotWithShape="0">
              <a:srgbClr val="8FA3B0">
                <a:alpha val="45000"/>
              </a:srgbClr>
            </a:outerShdw>
          </a:effectLst>
        </p:spPr>
      </p:sp>
      <p:pic>
        <p:nvPicPr>
          <p:cNvPr id="17" name="Image 0" descr="krakozyab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2194560"/>
            <a:ext cx="3291840" cy="215798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275320" y="4434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Фрагмент архивного листа: изогипсы тонут в сетке сейсмопрофилей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Пайплайн: зрение находит, VLM читает,</a:t>
            </a:r>
            <a:endParaRPr lang="en-US" sz="3000" dirty="0"/>
          </a:p>
          <a:p>
            <a:pPr marL="0" indent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статистика решает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331720"/>
            <a:ext cx="2514600" cy="27432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88900" dist="25400" dir="5400000" algn="bl" rotWithShape="0">
              <a:srgbClr val="9FB2BF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56032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0A4D6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603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3246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Находит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6576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Детекция объектов и трассировка линий на полном разрешении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73552" y="2331720"/>
            <a:ext cx="31089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566160" y="2331720"/>
            <a:ext cx="2514600" cy="27432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88900" dist="25400" dir="5400000" algn="bl" rotWithShape="0">
              <a:srgbClr val="9FB2BF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94760" y="256032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0A4D68"/>
          </a:solidFill>
          <a:ln/>
        </p:spPr>
      </p:sp>
      <p:sp>
        <p:nvSpPr>
          <p:cNvPr id="12" name="Text 10"/>
          <p:cNvSpPr/>
          <p:nvPr/>
        </p:nvSpPr>
        <p:spPr>
          <a:xfrm>
            <a:off x="3794760" y="25603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94760" y="3246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Читает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94760" y="36576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Мультимодальная модель распознаёт подписи и отметки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062472" y="2331720"/>
            <a:ext cx="31089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355080" y="2331720"/>
            <a:ext cx="2514600" cy="27432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88900" dist="25400" dir="5400000" algn="bl" rotWithShape="0">
              <a:srgbClr val="9FB2BF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256032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0A4D68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5603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3246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Классифицируют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83680" y="36576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Значения по формату + QC, не по мнению модели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851392" y="2331720"/>
            <a:ext cx="31089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144000" y="2331720"/>
            <a:ext cx="2514600" cy="27432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88900" dist="25400" dir="5400000" algn="bl" rotWithShape="0">
              <a:srgbClr val="9FB2BF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72600" y="256032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E08A2B"/>
          </a:solidFill>
          <a:ln/>
        </p:spPr>
      </p:sp>
      <p:sp>
        <p:nvSpPr>
          <p:cNvPr id="24" name="Text 22"/>
          <p:cNvSpPr/>
          <p:nvPr/>
        </p:nvSpPr>
        <p:spPr>
          <a:xfrm>
            <a:off x="9372600" y="25603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Грид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72600" y="3246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Поверхность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372600" y="36576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Реконструкция + геопривязка в СК-42, экспорт в Petrel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77240" y="5440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0A4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Принцип: LLM заменяет человека ПОСЛЕ зрения, а не само зрение.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 1 · ЯКУТИЯ, ОТЧЁТ 384092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Лист 23 — полный цикл до СК-42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52744" y="1517904"/>
            <a:ext cx="5559552" cy="480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  <a:effectLst>
            <a:outerShdw blurRad="114300" dist="38100" dir="5400000" algn="bl" rotWithShape="0">
              <a:srgbClr val="8FA3B0">
                <a:alpha val="45000"/>
              </a:srgbClr>
            </a:outerShdw>
          </a:effectLst>
        </p:spPr>
      </p:sp>
      <p:pic>
        <p:nvPicPr>
          <p:cNvPr id="5" name="Image 0" descr="yak23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554480"/>
            <a:ext cx="5486400" cy="47365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20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0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113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24871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изолиний оцифровано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200400" y="1920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0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125 м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4871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медиана невязки привязки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3063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0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СК-42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22960" y="36301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EPSG:28479, гео-грид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0" y="3063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0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Petrel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3200400" y="36301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 CPS-3 / GPKG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Изогипсы восстановлены по цвету глубины поверх исходного скана (Шеинская площадь). Поверхность геопривязана по номерам сейсмопрофилей и выгружена в промышленные форматы.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ВЫЗОВ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Плотная сетка профилей цифруется</a:t>
            </a:r>
            <a:endParaRPr lang="en-US" sz="3000" dirty="0"/>
          </a:p>
          <a:p>
            <a:pPr marL="0" indent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ложные контуры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Волго-Урал, отчёт 452289, лист 08. </a:t>
            </a:r>
            <a:r>
              <a:rPr lang="en-US" sz="15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Сейсмопрофили МОГТ идут гуще изогипс. Трассировщик принимает их за контуры — «кракозябры» забивают углы карты и рушат поверхность.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0A4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Прежние подходы — фильтры зигзагов, маска по шейпу — лечили симптом. Причина одна: нет надёжной привязки сети профилей к карте.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07024" y="2112264"/>
            <a:ext cx="5650992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  <a:effectLst>
            <a:outerShdw blurRad="114300" dist="38100" dir="5400000" algn="bl" rotWithShape="0">
              <a:srgbClr val="8FA3B0">
                <a:alpha val="45000"/>
              </a:srgbClr>
            </a:outerShdw>
          </a:effectLst>
        </p:spPr>
      </p:sp>
      <p:pic>
        <p:nvPicPr>
          <p:cNvPr id="7" name="Image 0" descr="mask_before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148840"/>
            <a:ext cx="5577840" cy="20482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0" y="427939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Слева — все трассы (с профилями); справа — что снято маской (серым)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ПРОРЫВ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Маска профилей через схему МОГТ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35624" y="1563624"/>
            <a:ext cx="5422392" cy="3986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  <a:effectLst>
            <a:outerShdw blurRad="114300" dist="38100" dir="5400000" algn="bl" rotWithShape="0">
              <a:srgbClr val="8FA3B0">
                <a:alpha val="45000"/>
              </a:srgbClr>
            </a:outerShdw>
          </a:effectLst>
        </p:spPr>
      </p:sp>
      <p:pic>
        <p:nvPicPr>
          <p:cNvPr id="5" name="Image 0" descr="sche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00200"/>
            <a:ext cx="5349240" cy="39136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" y="1920240"/>
            <a:ext cx="219456" cy="219456"/>
          </a:xfrm>
          <a:prstGeom prst="ellipse">
            <a:avLst/>
          </a:prstGeom>
          <a:solidFill>
            <a:srgbClr val="E08A2B"/>
          </a:solidFill>
          <a:ln/>
        </p:spPr>
      </p:sp>
      <p:sp>
        <p:nvSpPr>
          <p:cNvPr id="7" name="Text 4"/>
          <p:cNvSpPr/>
          <p:nvPr/>
        </p:nvSpPr>
        <p:spPr>
          <a:xfrm>
            <a:off x="1234440" y="1801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 тот же номер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34440" y="2185416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читает один номер профиля и на схеме, и на карте — прямая пара точек.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3218688"/>
            <a:ext cx="219456" cy="219456"/>
          </a:xfrm>
          <a:prstGeom prst="ellipse">
            <a:avLst/>
          </a:prstGeom>
          <a:solidFill>
            <a:srgbClr val="E08A2B"/>
          </a:solidFill>
          <a:ln/>
        </p:spPr>
      </p:sp>
      <p:sp>
        <p:nvSpPr>
          <p:cNvPr id="10" name="Text 7"/>
          <p:cNvSpPr/>
          <p:nvPr/>
        </p:nvSpPr>
        <p:spPr>
          <a:xfrm>
            <a:off x="1234440" y="30998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Привязка 7 px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34440" y="3483864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общих номеров задают аффинный фит схема→карта, невязка 7 px медиана.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68680" y="4517136"/>
            <a:ext cx="219456" cy="219456"/>
          </a:xfrm>
          <a:prstGeom prst="ellipse">
            <a:avLst/>
          </a:prstGeom>
          <a:solidFill>
            <a:srgbClr val="E08A2B"/>
          </a:solidFill>
          <a:ln/>
        </p:spPr>
      </p:sp>
      <p:sp>
        <p:nvSpPr>
          <p:cNvPr id="13" name="Text 10"/>
          <p:cNvSpPr/>
          <p:nvPr/>
        </p:nvSpPr>
        <p:spPr>
          <a:xfrm>
            <a:off x="1234440" y="43982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Снимать вдоль, беречь поперёк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34440" y="478231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Убирается трасса вдоль линии схемы; изогипса, что пересекает профиль, уцелевает.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172200" y="55778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профилей есть в каждом отчёте — полная и подписанная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· 452289 ЛИСТ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Чистое поле изогипс, маска в пайплайне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69864" y="1517904"/>
            <a:ext cx="5788152" cy="4187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  <a:effectLst>
            <a:outerShdw blurRad="114300" dist="38100" dir="5400000" algn="bl" rotWithShape="0">
              <a:srgbClr val="8FA3B0">
                <a:alpha val="45000"/>
              </a:srgbClr>
            </a:outerShdw>
          </a:effectLst>
        </p:spPr>
      </p:sp>
      <p:pic>
        <p:nvPicPr>
          <p:cNvPr id="5" name="Image 0" descr="vu08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554480"/>
            <a:ext cx="57150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828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0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498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23957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профилей снято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246120" y="1828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0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268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46120" y="23957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чистых изогипс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30175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Маска встроена в пайплайн</a:t>
            </a: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как отдельная стадия между трассировкой и присвоением значений — профили стираются до сборки слоя.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4297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0A4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Честный гейт: </a:t>
            </a:r>
            <a:r>
              <a:rPr lang="en-US" sz="13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схемы или привязка не прошла — маска не накладывается, лист цифруется как раньше. Оцифровку не блокируем.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0A4D6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6304"/>
            <a:ext cx="12161520" cy="1463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92608"/>
            <a:ext cx="12161520" cy="146304"/>
          </a:xfrm>
          <a:prstGeom prst="rect">
            <a:avLst/>
          </a:prstGeom>
          <a:solidFill>
            <a:srgbClr val="2A8FB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99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региона, один пайплайн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0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Якутия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C7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цикл до СК-42, экспорт в Petrel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26280" y="2834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0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Волго-Урал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526280" y="33375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C7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Профили сняты маской через схему, поле чистое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0" y="2834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0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Пайплайн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229600" y="33375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C7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Детерминированный, воспроизводимый, деплой на стенд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4937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Дальше: авто-поиск схемы в отчёте · геопривязка Волго-Урала · грид-контуринг под Petrel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· Руслан Киямов · ФИНАМ / РГУ Губкина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648</Words>
  <Application>Microsoft Office PowerPoint</Application>
  <PresentationFormat>Широкоэкранный</PresentationFormat>
  <Paragraphs>97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Finam</cp:lastModifiedBy>
  <cp:revision>1</cp:revision>
  <dcterms:created xsi:type="dcterms:W3CDTF">2026-07-30T14:25:14Z</dcterms:created>
  <dcterms:modified xsi:type="dcterms:W3CDTF">2026-07-30T14:28:29Z</dcterms:modified>
</cp:coreProperties>
</file>